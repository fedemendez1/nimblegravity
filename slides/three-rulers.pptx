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6284153005464481"/>
          <c:y val="0.010638297872340425"/>
          <c:w val="0.9098360655737705"/>
          <c:h val="0.893617021276595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Vendor UI</c:v>
                </c:pt>
              </c:strCache>
            </c:strRef>
          </c:tx>
          <c:spPr>
            <a:solidFill>
              <a:srgbClr val="2F7BD6"/>
            </a:solidFill>
            <a:ln w="28575" cap="flat">
              <a:solidFill>
                <a:srgbClr val="2F7B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7BD6"/>
              </a:solidFill>
              <a:ln w="9525" cap="flat">
                <a:solidFill>
                  <a:srgbClr val="2F7B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2022-01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2022-03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2022-05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2022-07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2022-09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>2022-11</c:v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>2023-01</c:v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440</c:v>
                </c:pt>
                <c:pt idx="1">
                  <c:v>477</c:v>
                </c:pt>
                <c:pt idx="2">
                  <c:v>513</c:v>
                </c:pt>
                <c:pt idx="3">
                  <c:v>550</c:v>
                </c:pt>
                <c:pt idx="4">
                  <c:v>520</c:v>
                </c:pt>
                <c:pt idx="5">
                  <c:v>640</c:v>
                </c:pt>
                <c:pt idx="6">
                  <c:v>720</c:v>
                </c:pt>
                <c:pt idx="7">
                  <c:v>763</c:v>
                </c:pt>
                <c:pt idx="8">
                  <c:v>805</c:v>
                </c:pt>
                <c:pt idx="9">
                  <c:v>753</c:v>
                </c:pt>
                <c:pt idx="10">
                  <c:v>700</c:v>
                </c:pt>
                <c:pt idx="11">
                  <c:v>810</c:v>
                </c:pt>
                <c:pt idx="12">
                  <c:v>845</c:v>
                </c:pt>
                <c:pt idx="13">
                  <c:v>790</c:v>
                </c:pt>
                <c:pt idx="14">
                  <c:v>735</c:v>
                </c:pt>
                <c:pt idx="15">
                  <c:v>820</c:v>
                </c:pt>
                <c:pt idx="16">
                  <c:v>870</c:v>
                </c:pt>
                <c:pt idx="17">
                  <c:v>920</c:v>
                </c:pt>
                <c:pt idx="18">
                  <c:v>963</c:v>
                </c:pt>
                <c:pt idx="19">
                  <c:v>1007</c:v>
                </c:pt>
                <c:pt idx="20">
                  <c:v>1050</c:v>
                </c:pt>
                <c:pt idx="21">
                  <c:v>995</c:v>
                </c:pt>
                <c:pt idx="22">
                  <c:v>940</c:v>
                </c:pt>
                <c:pt idx="23">
                  <c:v>1050</c:v>
                </c:pt>
                <c:pt idx="24">
                  <c:v>1093</c:v>
                </c:pt>
                <c:pt idx="25">
                  <c:v>1135</c:v>
                </c:pt>
                <c:pt idx="26">
                  <c:v>1020</c:v>
                </c:pt>
                <c:pt idx="27">
                  <c:v>1100</c:v>
                </c:pt>
                <c:pt idx="28">
                  <c:v>1180</c:v>
                </c:pt>
                <c:pt idx="29">
                  <c:v>1230</c:v>
                </c:pt>
                <c:pt idx="30">
                  <c:v>1320</c:v>
                </c:pt>
                <c:pt idx="31">
                  <c:v>1375</c:v>
                </c:pt>
                <c:pt idx="32">
                  <c:v>1355</c:v>
                </c:pt>
                <c:pt idx="33">
                  <c:v>1403</c:v>
                </c:pt>
                <c:pt idx="34">
                  <c:v>1450</c:v>
                </c:pt>
                <c:pt idx="35">
                  <c:v>1385</c:v>
                </c:pt>
                <c:pt idx="36">
                  <c:v>1320</c:v>
                </c:pt>
                <c:pt idx="37">
                  <c:v>1450</c:v>
                </c:pt>
                <c:pt idx="38">
                  <c:v>1503</c:v>
                </c:pt>
                <c:pt idx="39">
                  <c:v>1556</c:v>
                </c:pt>
                <c:pt idx="40">
                  <c:v>1609</c:v>
                </c:pt>
                <c:pt idx="41">
                  <c:v>1662</c:v>
                </c:pt>
                <c:pt idx="42">
                  <c:v>1715</c:v>
                </c:pt>
                <c:pt idx="43">
                  <c:v>2115</c:v>
                </c:pt>
                <c:pt idx="44">
                  <c:v>2202</c:v>
                </c:pt>
                <c:pt idx="45">
                  <c:v>2289</c:v>
                </c:pt>
                <c:pt idx="46">
                  <c:v>2376</c:v>
                </c:pt>
                <c:pt idx="47">
                  <c:v>2464</c:v>
                </c:pt>
                <c:pt idx="48">
                  <c:v>2551</c:v>
                </c:pt>
                <c:pt idx="49">
                  <c:v>2638</c:v>
                </c:pt>
                <c:pt idx="50">
                  <c:v>2725</c:v>
                </c:pt>
                <c:pt idx="51">
                  <c:v>2812</c:v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MMM (incremental)</c:v>
                </c:pt>
              </c:strCache>
            </c:strRef>
          </c:tx>
          <c:spPr>
            <a:solidFill>
              <a:srgbClr val="1AA878"/>
            </a:solidFill>
            <a:ln w="28575" cap="flat">
              <a:solidFill>
                <a:srgbClr val="1AA8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AA878"/>
              </a:solidFill>
              <a:ln w="9525" cap="flat">
                <a:solidFill>
                  <a:srgbClr val="1AA8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2022-01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2022-03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2022-05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2022-07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2022-09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>2022-11</c:v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>2023-01</c:v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</c:lvl>
              </c:multiLvlStrCache>
            </c:multiLvl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361</c:v>
                </c:pt>
                <c:pt idx="1">
                  <c:v>391</c:v>
                </c:pt>
                <c:pt idx="2">
                  <c:v>421</c:v>
                </c:pt>
                <c:pt idx="3">
                  <c:v>451</c:v>
                </c:pt>
                <c:pt idx="4">
                  <c:v>426</c:v>
                </c:pt>
                <c:pt idx="5">
                  <c:v>525</c:v>
                </c:pt>
                <c:pt idx="6">
                  <c:v>590</c:v>
                </c:pt>
                <c:pt idx="7">
                  <c:v>625</c:v>
                </c:pt>
                <c:pt idx="8">
                  <c:v>660</c:v>
                </c:pt>
                <c:pt idx="9">
                  <c:v>617</c:v>
                </c:pt>
                <c:pt idx="10">
                  <c:v>574</c:v>
                </c:pt>
                <c:pt idx="11">
                  <c:v>664</c:v>
                </c:pt>
                <c:pt idx="12">
                  <c:v>693</c:v>
                </c:pt>
                <c:pt idx="13">
                  <c:v>648</c:v>
                </c:pt>
                <c:pt idx="14">
                  <c:v>602</c:v>
                </c:pt>
                <c:pt idx="15">
                  <c:v>672</c:v>
                </c:pt>
                <c:pt idx="16">
                  <c:v>713</c:v>
                </c:pt>
                <c:pt idx="17">
                  <c:v>754</c:v>
                </c:pt>
                <c:pt idx="18">
                  <c:v>790</c:v>
                </c:pt>
                <c:pt idx="19">
                  <c:v>825</c:v>
                </c:pt>
                <c:pt idx="20">
                  <c:v>861</c:v>
                </c:pt>
                <c:pt idx="21">
                  <c:v>816</c:v>
                </c:pt>
                <c:pt idx="22">
                  <c:v>770</c:v>
                </c:pt>
                <c:pt idx="23">
                  <c:v>861</c:v>
                </c:pt>
                <c:pt idx="24">
                  <c:v>895</c:v>
                </c:pt>
                <c:pt idx="25">
                  <c:v>930</c:v>
                </c:pt>
                <c:pt idx="26">
                  <c:v>836</c:v>
                </c:pt>
                <c:pt idx="27">
                  <c:v>902</c:v>
                </c:pt>
                <c:pt idx="28">
                  <c:v>967</c:v>
                </c:pt>
                <c:pt idx="29">
                  <c:v>1008</c:v>
                </c:pt>
                <c:pt idx="30">
                  <c:v>1082</c:v>
                </c:pt>
                <c:pt idx="31">
                  <c:v>1127</c:v>
                </c:pt>
                <c:pt idx="32">
                  <c:v>1111</c:v>
                </c:pt>
                <c:pt idx="33">
                  <c:v>1150</c:v>
                </c:pt>
                <c:pt idx="34">
                  <c:v>1189</c:v>
                </c:pt>
                <c:pt idx="35">
                  <c:v>1135</c:v>
                </c:pt>
                <c:pt idx="36">
                  <c:v>1082</c:v>
                </c:pt>
                <c:pt idx="37">
                  <c:v>1189</c:v>
                </c:pt>
                <c:pt idx="38">
                  <c:v>1232</c:v>
                </c:pt>
                <c:pt idx="39">
                  <c:v>1275</c:v>
                </c:pt>
                <c:pt idx="40">
                  <c:v>1319</c:v>
                </c:pt>
                <c:pt idx="41">
                  <c:v>1362</c:v>
                </c:pt>
                <c:pt idx="42">
                  <c:v>1420</c:v>
                </c:pt>
                <c:pt idx="43">
                  <c:v>1540</c:v>
                </c:pt>
                <c:pt idx="44">
                  <c:v>1445</c:v>
                </c:pt>
                <c:pt idx="45">
                  <c:v>1492</c:v>
                </c:pt>
                <c:pt idx="46">
                  <c:v>1540</c:v>
                </c:pt>
                <c:pt idx="47">
                  <c:v>1587</c:v>
                </c:pt>
                <c:pt idx="48">
                  <c:v>1635</c:v>
                </c:pt>
                <c:pt idx="49">
                  <c:v>1682</c:v>
                </c:pt>
                <c:pt idx="50">
                  <c:v>1730</c:v>
                </c:pt>
                <c:pt idx="51">
                  <c:v>1777</c:v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Rule-based (first touch)</c:v>
                </c:pt>
              </c:strCache>
            </c:strRef>
          </c:tx>
          <c:spPr>
            <a:solidFill>
              <a:srgbClr val="E8683A"/>
            </a:solidFill>
            <a:ln w="28575" cap="flat">
              <a:solidFill>
                <a:srgbClr val="E868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683A"/>
              </a:solidFill>
              <a:ln w="9525" cap="flat">
                <a:solidFill>
                  <a:srgbClr val="E868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2022-01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2022-03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2022-05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2022-07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2022-09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>2022-11</c:v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>2023-01</c:v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</c:lvl>
              </c:multiLvlStrCache>
            </c:multiLvlStrRef>
          </c:cat>
          <c:val>
            <c:numRef>
              <c:f>Sheet1!$D$2:$D$61</c:f>
              <c:numCache>
                <c:formatCode>General</c:formatCode>
                <c:ptCount val="60"/>
                <c:pt idx="0">
                  <c:v>261</c:v>
                </c:pt>
                <c:pt idx="1">
                  <c:v>283</c:v>
                </c:pt>
                <c:pt idx="2">
                  <c:v>305</c:v>
                </c:pt>
                <c:pt idx="3">
                  <c:v>327</c:v>
                </c:pt>
                <c:pt idx="4">
                  <c:v>309</c:v>
                </c:pt>
                <c:pt idx="5">
                  <c:v>380</c:v>
                </c:pt>
                <c:pt idx="6">
                  <c:v>428</c:v>
                </c:pt>
                <c:pt idx="7">
                  <c:v>453</c:v>
                </c:pt>
                <c:pt idx="8">
                  <c:v>478</c:v>
                </c:pt>
                <c:pt idx="9">
                  <c:v>447</c:v>
                </c:pt>
                <c:pt idx="10">
                  <c:v>416</c:v>
                </c:pt>
                <c:pt idx="11">
                  <c:v>481</c:v>
                </c:pt>
                <c:pt idx="12">
                  <c:v>502</c:v>
                </c:pt>
                <c:pt idx="13">
                  <c:v>469</c:v>
                </c:pt>
                <c:pt idx="14">
                  <c:v>437</c:v>
                </c:pt>
                <c:pt idx="15">
                  <c:v>487</c:v>
                </c:pt>
                <c:pt idx="16">
                  <c:v>517</c:v>
                </c:pt>
                <c:pt idx="17">
                  <c:v>355</c:v>
                </c:pt>
                <c:pt idx="18">
                  <c:v>375</c:v>
                </c:pt>
                <c:pt idx="19">
                  <c:v>395</c:v>
                </c:pt>
                <c:pt idx="20">
                  <c:v>415</c:v>
                </c:pt>
                <c:pt idx="21">
                  <c:v>591</c:v>
                </c:pt>
                <c:pt idx="22">
                  <c:v>559</c:v>
                </c:pt>
                <c:pt idx="23">
                  <c:v>624</c:v>
                </c:pt>
                <c:pt idx="24">
                  <c:v>649</c:v>
                </c:pt>
                <c:pt idx="25">
                  <c:v>674</c:v>
                </c:pt>
                <c:pt idx="26">
                  <c:v>606</c:v>
                </c:pt>
                <c:pt idx="27">
                  <c:v>654</c:v>
                </c:pt>
                <c:pt idx="28">
                  <c:v>701</c:v>
                </c:pt>
                <c:pt idx="29">
                  <c:v>731</c:v>
                </c:pt>
                <c:pt idx="30">
                  <c:v>784</c:v>
                </c:pt>
                <c:pt idx="31">
                  <c:v>817</c:v>
                </c:pt>
                <c:pt idx="32">
                  <c:v>805</c:v>
                </c:pt>
                <c:pt idx="33">
                  <c:v>833</c:v>
                </c:pt>
                <c:pt idx="34">
                  <c:v>862</c:v>
                </c:pt>
                <c:pt idx="35">
                  <c:v>823</c:v>
                </c:pt>
                <c:pt idx="36">
                  <c:v>784</c:v>
                </c:pt>
                <c:pt idx="37">
                  <c:v>862</c:v>
                </c:pt>
                <c:pt idx="38">
                  <c:v>893</c:v>
                </c:pt>
                <c:pt idx="39">
                  <c:v>925</c:v>
                </c:pt>
                <c:pt idx="40">
                  <c:v>956</c:v>
                </c:pt>
                <c:pt idx="41">
                  <c:v>988</c:v>
                </c:pt>
                <c:pt idx="42">
                  <c:v>1045</c:v>
                </c:pt>
                <c:pt idx="43">
                  <c:v>995</c:v>
                </c:pt>
                <c:pt idx="44">
                  <c:v>1035</c:v>
                </c:pt>
                <c:pt idx="45">
                  <c:v>1075</c:v>
                </c:pt>
                <c:pt idx="46">
                  <c:v>1115</c:v>
                </c:pt>
                <c:pt idx="47">
                  <c:v>1156</c:v>
                </c:pt>
                <c:pt idx="48">
                  <c:v>1196</c:v>
                </c:pt>
                <c:pt idx="49">
                  <c:v>1236</c:v>
                </c:pt>
                <c:pt idx="50">
                  <c:v>1276</c:v>
                </c:pt>
                <c:pt idx="51">
                  <c:v>1316</c:v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BBBBB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330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44444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44444"/>
                    </a:solidFill>
                    <a:latin typeface="Arial"/>
                  </a:rPr>
                  <a:t>Registrations per week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Vendor UI</c:v>
                </c:pt>
              </c:strCache>
            </c:strRef>
          </c:tx>
          <c:spPr>
            <a:solidFill>
              <a:srgbClr val="2F7BD6"/>
            </a:solidFill>
            <a:effectLst/>
          </c:spPr>
          <c:invertIfNegative val="0"/>
          <c:dLbls>
            <c:numFmt formatCode="£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Google UAC
£350k spend · 39%</c:v>
                  </c:pt>
                  <c:pt idx="1">
                    <c:v>Tradedesk
£538k spend · 61%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11.43</c:v>
                </c:pt>
                <c:pt idx="1">
                  <c:v>15.35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Rule-based</c:v>
                </c:pt>
              </c:strCache>
            </c:strRef>
          </c:tx>
          <c:spPr>
            <a:solidFill>
              <a:srgbClr val="E8683A"/>
            </a:solidFill>
            <a:effectLst/>
          </c:spPr>
          <c:invertIfNegative val="0"/>
          <c:dLbls>
            <c:numFmt formatCode="£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Google UAC
£350k spend · 39%</c:v>
                  </c:pt>
                  <c:pt idx="1">
                    <c:v>Tradedesk
£538k spend · 61%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14.59</c:v>
                </c:pt>
                <c:pt idx="1">
                  <c:v>44.31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MMM</c:v>
                </c:pt>
              </c:strCache>
            </c:strRef>
          </c:tx>
          <c:spPr>
            <a:solidFill>
              <a:srgbClr val="1AA878"/>
            </a:solidFill>
            <a:effectLst/>
          </c:spPr>
          <c:invertIfNegative val="0"/>
          <c:dLbls>
            <c:numFmt formatCode="£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Google UAC
£350k spend · 39%</c:v>
                  </c:pt>
                  <c:pt idx="1">
                    <c:v>Tradedesk
£538k spend · 61%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16.01</c:v>
                </c:pt>
                <c:pt idx="1">
                  <c:v>18.77</c:v>
                </c:pt>
              </c:numCache>
            </c:numRef>
          </c:val>
        </c:ser>
        <c:dLbls>
          <c:numFmt formatCode="£0.00" sourceLinked="0"/>
          <c:txPr>
            <a:bodyPr/>
            <a:lstStyle/>
            <a:p>
              <a:pPr>
                <a:defRPr b="1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BBBB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55555"/>
                    </a:solidFill>
                    <a:latin typeface="Arial"/>
                  </a:rPr>
                  <a:t>Cost per registration, full year</a:t>
                </a:r>
              </a:p>
            </c:rich>
          </c:tx>
          <c:layout/>
          <c:overlay val="0"/>
        </c:title>
        <c:numFmt formatCode="£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Google UAC</c:v>
                </c:pt>
              </c:strCache>
            </c:strRef>
          </c:tx>
          <c:spPr>
            <a:solidFill>
              <a:srgbClr val="4B3AA8"/>
            </a:solidFill>
            <a:effectLst/>
          </c:spPr>
          <c:invertIfNegative val="0"/>
          <c:dLbls>
            <c:numFmt formatCode="£0.00" sourceLinked="0"/>
            <c:txPr>
              <a:bodyPr/>
              <a:lstStyle/>
              <a:p>
                <a:pPr>
                  <a:defRPr b="1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Vendor UI says:  “Google is the better buy”</c:v>
                  </c:pt>
                  <c:pt idx="1">
                    <c:v>MMM says:  “Tradedesk is the better buy”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10.31</c:v>
                </c:pt>
                <c:pt idx="1">
                  <c:v>18.75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Tradedesk</c:v>
                </c:pt>
              </c:strCache>
            </c:strRef>
          </c:tx>
          <c:spPr>
            <a:solidFill>
              <a:srgbClr val="E8A200"/>
            </a:solidFill>
            <a:effectLst/>
          </c:spPr>
          <c:invertIfNegative val="0"/>
          <c:dLbls>
            <c:numFmt formatCode="£0.00" sourceLinked="0"/>
            <c:txPr>
              <a:bodyPr/>
              <a:lstStyle/>
              <a:p>
                <a:pPr>
                  <a:defRPr b="1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Vendor UI says:  “Google is the better buy”</c:v>
                  </c:pt>
                  <c:pt idx="1">
                    <c:v>MMM says:  “Tradedesk is the better buy”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12.81</c:v>
                </c:pt>
                <c:pt idx="1">
                  <c:v>17.48</c:v>
                </c:pt>
              </c:numCache>
            </c:numRef>
          </c:val>
        </c:ser>
        <c:dLbls>
          <c:numFmt formatCode="£0.00" sourceLinked="0"/>
          <c:txPr>
            <a:bodyPr/>
            <a:lstStyle/>
            <a:p>
              <a:pPr>
                <a:defRPr b="1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BBBB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1111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555555"/>
                    </a:solidFill>
                    <a:latin typeface="Arial"/>
                  </a:rPr>
                  <a:t>Q4 CPA</a:t>
                </a:r>
              </a:p>
            </c:rich>
          </c:tx>
          <c:layout/>
          <c:overlay val="0"/>
        </c:title>
        <c:numFmt formatCode="£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Line-chart weekly values are reconstructed from the original chart image (approximate). Endpoints (2,812 / 1,777 / 1,316) are exact. Right-click the chart &gt; Edit Data to paste the real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8224"/>
            <a:ext cx="10972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DISPLAY  ·  52 WEEKS  ·  £888K  ·  TRADEDESK + GOOGLE UAC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6448"/>
            <a:ext cx="1127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rulers, three answers — and only one should set the budget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09472"/>
            <a:ext cx="1127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systems disagree by </a:t>
            </a:r>
            <a:pPr indent="0" marL="0">
              <a:buNone/>
            </a:pPr>
            <a:r>
              <a:rPr lang="en-US" sz="1300" b="1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−29% to +30%</a:t>
            </a:r>
            <a:pPr indent="0" marL="0">
              <a:buNone/>
            </a:pPr>
            <a:r>
              <a:rPr lang="en-US" sz="130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same registrations. That gap is structural and stable — and therefore </a:t>
            </a:r>
            <a:pPr indent="0" marL="0">
              <a:buNone/>
            </a:pPr>
            <a:r>
              <a:rPr lang="en-US" sz="1300" b="1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</a:t>
            </a:r>
            <a:pPr indent="0" marL="0">
              <a:buNone/>
            </a:pPr>
            <a:r>
              <a:rPr lang="en-US" sz="130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until Q4, when it breaks.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49680" y="1426464"/>
            <a:ext cx="853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registrations: a stable gap for 10 months — then it breaks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25468" y="1737360"/>
            <a:ext cx="676656" cy="2560320"/>
          </a:xfrm>
          <a:prstGeom prst="rect">
            <a:avLst/>
          </a:prstGeom>
          <a:solidFill>
            <a:srgbClr val="F9DED3"/>
          </a:solidFill>
          <a:ln/>
        </p:spPr>
      </p:sp>
      <p:sp>
        <p:nvSpPr>
          <p:cNvPr id="7" name="Shape 5"/>
          <p:cNvSpPr/>
          <p:nvPr/>
        </p:nvSpPr>
        <p:spPr>
          <a:xfrm>
            <a:off x="8523732" y="1737360"/>
            <a:ext cx="1522476" cy="2560320"/>
          </a:xfrm>
          <a:prstGeom prst="rect">
            <a:avLst/>
          </a:prstGeom>
          <a:solidFill>
            <a:srgbClr val="EAF1FA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48640" y="1706880"/>
          <a:ext cx="11155680" cy="2865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523732" y="1737360"/>
            <a:ext cx="0" cy="2560320"/>
          </a:xfrm>
          <a:prstGeom prst="line">
            <a:avLst/>
          </a:prstGeom>
          <a:noFill/>
          <a:ln w="15875">
            <a:solidFill>
              <a:srgbClr val="777777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10058400" y="19994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UI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F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2,812/wk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27797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MMM (incremental)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1,777/wk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058400" y="3133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6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(first touch)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86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1,316/wk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493520" y="2523744"/>
            <a:ext cx="25603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86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TRACKING OUTAGE  (May, 4 wks)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86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Tradedesk rule-based drops to zero.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86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£34.6k spend left unattributed,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86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CPA £206 vs £19 true.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88080" y="3218688"/>
            <a:ext cx="792480" cy="731520"/>
          </a:xfrm>
          <a:prstGeom prst="line">
            <a:avLst/>
          </a:prstGeom>
          <a:noFill/>
          <a:ln w="15875">
            <a:solidFill>
              <a:srgbClr val="E8683A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3931920" y="1810512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F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Q4 REGIME BREAK  (Nov-Dec)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F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UI accelerates away from MMM: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F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widens from +22% to +54%.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69152" y="2328672"/>
            <a:ext cx="2987040" cy="109728"/>
          </a:xfrm>
          <a:prstGeom prst="line">
            <a:avLst/>
          </a:prstGeom>
          <a:noFill/>
          <a:ln w="15875">
            <a:solidFill>
              <a:srgbClr val="2F7BD6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548640" y="4669536"/>
            <a:ext cx="853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weeks · paid display · Tradedesk + Google UAC · £888k spend · 3 duplicate rows removed before analysis.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4968240"/>
            <a:ext cx="3596640" cy="1481328"/>
          </a:xfrm>
          <a:prstGeom prst="roundRect">
            <a:avLst>
              <a:gd name="adj" fmla="val 6173"/>
            </a:avLst>
          </a:prstGeom>
          <a:solidFill>
            <a:srgbClr val="F2F3EE"/>
          </a:solidFill>
          <a:ln w="12700">
            <a:solidFill>
              <a:srgbClr val="DADDD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5138928"/>
            <a:ext cx="268224" cy="268224"/>
          </a:xfrm>
          <a:prstGeom prst="ellipse">
            <a:avLst/>
          </a:prstGeom>
          <a:solidFill>
            <a:srgbClr val="1AA878"/>
          </a:solidFill>
          <a:ln w="12700">
            <a:solidFill>
              <a:srgbClr val="1AA8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5138928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63168" y="50962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stable — so it is a conversion factor, not a crisis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15696" y="5516880"/>
            <a:ext cx="32918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 months the ratios barely move: Vendor UI runs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above MMM, rule-based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−29%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below. Per vendor they are near-constant (UI/MMM: Tradedesk 1.17, Google 1.28). A predictable bias can be calibrated away.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97680" y="4968240"/>
            <a:ext cx="3596640" cy="1481328"/>
          </a:xfrm>
          <a:prstGeom prst="roundRect">
            <a:avLst>
              <a:gd name="adj" fmla="val 6173"/>
            </a:avLst>
          </a:prstGeom>
          <a:solidFill>
            <a:srgbClr val="F2F3EE"/>
          </a:solidFill>
          <a:ln w="12700">
            <a:solidFill>
              <a:srgbClr val="DADDD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62272" y="5138928"/>
            <a:ext cx="268224" cy="268224"/>
          </a:xfrm>
          <a:prstGeom prst="ellipse">
            <a:avLst/>
          </a:prstGeom>
          <a:solidFill>
            <a:srgbClr val="E8683A"/>
          </a:solidFill>
          <a:ln w="12700">
            <a:solidFill>
              <a:srgbClr val="E868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62272" y="5138928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803648" y="50962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structurally breaks programmatic display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4456176" y="5516880"/>
            <a:ext cx="32918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First-touch click tracking sees only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Tradedesk’s incremental registrations → reported CPA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£44.31 vs £18.77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Governing on it would cut the vendor delivering 57% of incremental growth — and it failed silently for 4 weeks in May.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125968" y="4968240"/>
            <a:ext cx="3596640" cy="1481328"/>
          </a:xfrm>
          <a:prstGeom prst="roundRect">
            <a:avLst>
              <a:gd name="adj" fmla="val 6173"/>
            </a:avLst>
          </a:prstGeom>
          <a:solidFill>
            <a:srgbClr val="F2F3EE"/>
          </a:solidFill>
          <a:ln w="12700">
            <a:solidFill>
              <a:srgbClr val="DADDD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90560" y="5138928"/>
            <a:ext cx="268224" cy="268224"/>
          </a:xfrm>
          <a:prstGeom prst="ellipse">
            <a:avLst/>
          </a:prstGeom>
          <a:solidFill>
            <a:srgbClr val="2F7BD6"/>
          </a:solidFill>
          <a:ln w="12700">
            <a:solidFill>
              <a:srgbClr val="2F7BD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90560" y="5138928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631936" y="50962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Q4 the signals invert — and the vendor UI points the wrong way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5516880"/>
            <a:ext cx="32918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UI CPA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(Google −13%, Tradedesk −22%) while MMM says Google got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worse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At identical spend Q4 costs +20% per incremental registration: seasonality, not saturation.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11216640" y="6620256"/>
            <a:ext cx="51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8224"/>
            <a:ext cx="10972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·  WHAT EXPLAINS THE DIFFERENCES, AND WHAT EACH METHOD IS GOOD FOR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6448"/>
            <a:ext cx="1127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disagree because they answer three different questions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09472"/>
            <a:ext cx="1127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is “the right one”: each has a different counting rule, field of view and definition of a conversion. The error is comparing them like-for-like.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83920" y="14630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vendor, same year — the ruler changes the verdict by up to 2.9×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15440"/>
          <a:ext cx="4998720" cy="2438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2633472" y="2316480"/>
            <a:ext cx="1402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86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2.4× the MMM read.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86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First-touch click tracking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86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blind to view-through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86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display.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 flipV="1">
            <a:off x="3505200" y="2267712"/>
            <a:ext cx="182880" cy="73152"/>
          </a:xfrm>
          <a:prstGeom prst="line">
            <a:avLst/>
          </a:prstGeom>
          <a:noFill/>
          <a:ln w="12700">
            <a:solidFill>
              <a:srgbClr val="E8683A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711952" y="1499616"/>
            <a:ext cx="548640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7A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DRIVERS OF THE GAP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11952" y="1767840"/>
            <a:ext cx="231648" cy="231648"/>
          </a:xfrm>
          <a:prstGeom prst="ellipse">
            <a:avLst/>
          </a:prstGeom>
          <a:solidFill>
            <a:srgbClr val="1D3B1F"/>
          </a:solidFill>
          <a:ln w="12700">
            <a:solidFill>
              <a:srgbClr val="1D3B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1952" y="1767840"/>
            <a:ext cx="23164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E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053328" y="1755648"/>
            <a:ext cx="5486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rules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053328" y="2029968"/>
            <a:ext cx="5669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vendor marks its own homework: self-attributed view-through and cross-device conversions, different lookback windows, and no de-duplication between vendors. Summing two vendor UIs double-counts people both of them touched.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11952" y="2621280"/>
            <a:ext cx="231648" cy="231648"/>
          </a:xfrm>
          <a:prstGeom prst="ellipse">
            <a:avLst/>
          </a:prstGeom>
          <a:solidFill>
            <a:srgbClr val="1D3B1F"/>
          </a:solidFill>
          <a:ln w="12700">
            <a:solidFill>
              <a:srgbClr val="1D3B1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11952" y="2621280"/>
            <a:ext cx="23164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E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053328" y="2609088"/>
            <a:ext cx="5486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053328" y="2883408"/>
            <a:ext cx="5669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tracking only sees clicks it can cookie. That is survivable for in-app UAC (rule-based ≈ 1.06× MMM) and fatal for programmatic display (0.47×). First touch then over-credits whichever tracked channel appeared first.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711952" y="3474720"/>
            <a:ext cx="231648" cy="231648"/>
          </a:xfrm>
          <a:prstGeom prst="ellipse">
            <a:avLst/>
          </a:prstGeom>
          <a:solidFill>
            <a:srgbClr val="1D3B1F"/>
          </a:solidFill>
          <a:ln w="12700">
            <a:solidFill>
              <a:srgbClr val="1D3B1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11952" y="3474720"/>
            <a:ext cx="23164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E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053328" y="3462528"/>
            <a:ext cx="54864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Incrementality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053328" y="3736848"/>
            <a:ext cx="5669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 is the only one that subtracts baseline demand. Neither tracking system asks “would this have happened anyway?”, so both inflate exactly when organic demand rises — which is what Q4 shows.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4297680"/>
            <a:ext cx="3627120" cy="2164080"/>
          </a:xfrm>
          <a:prstGeom prst="roundRect">
            <a:avLst>
              <a:gd name="adj" fmla="val 4225"/>
            </a:avLst>
          </a:prstGeom>
          <a:solidFill>
            <a:srgbClr val="F2F3EE"/>
          </a:solidFill>
          <a:ln w="12700">
            <a:solidFill>
              <a:srgbClr val="DADDD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4517136"/>
            <a:ext cx="121920" cy="121920"/>
          </a:xfrm>
          <a:prstGeom prst="ellipse">
            <a:avLst/>
          </a:prstGeom>
          <a:solidFill>
            <a:srgbClr val="2F7BD6"/>
          </a:solidFill>
          <a:ln w="12700">
            <a:solidFill>
              <a:srgbClr val="2F7B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486656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UI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21792" y="4852416"/>
            <a:ext cx="332232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F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my platform see a conversion after my ad?”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21792" y="5212080"/>
            <a:ext cx="3322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and granular (campaign, creative, audience, placement). The only signal the bidding algorithm can actually consume. No lag.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21792" y="5852160"/>
            <a:ext cx="3322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and self-interested; inconsistent windows; no cross-vendor de-duplication; inflates when demand rises — Q4 premium jumped from +22% to +54%.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279392" y="4297680"/>
            <a:ext cx="3627120" cy="2164080"/>
          </a:xfrm>
          <a:prstGeom prst="roundRect">
            <a:avLst>
              <a:gd name="adj" fmla="val 4225"/>
            </a:avLst>
          </a:prstGeom>
          <a:solidFill>
            <a:srgbClr val="F2F3EE"/>
          </a:solidFill>
          <a:ln w="12700">
            <a:solidFill>
              <a:srgbClr val="DADDD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62272" y="4517136"/>
            <a:ext cx="121920" cy="121920"/>
          </a:xfrm>
          <a:prstGeom prst="ellipse">
            <a:avLst/>
          </a:prstGeom>
          <a:solidFill>
            <a:srgbClr val="E8683A"/>
          </a:solidFill>
          <a:ln w="12700">
            <a:solidFill>
              <a:srgbClr val="E8683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45152" y="4486656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(1ST TOUCH)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443984" y="4852416"/>
            <a:ext cx="332232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E8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tracked touchpoint came first?”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4443984" y="5212080"/>
            <a:ext cx="3322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rule across vendors, de-duplicated, user-level, independent of vendor incentives. Excellent as a tracking-health monitor.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443984" y="5852160"/>
            <a:ext cx="3322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view-through and to consent/ITP-limited paths; first touch over-credits upper funnel; breaks silently when tags break (May: £34.6k of spend read as zero).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101584" y="4297680"/>
            <a:ext cx="3627120" cy="2164080"/>
          </a:xfrm>
          <a:prstGeom prst="roundRect">
            <a:avLst>
              <a:gd name="adj" fmla="val 4225"/>
            </a:avLst>
          </a:prstGeom>
          <a:solidFill>
            <a:srgbClr val="F2F3EE"/>
          </a:solidFill>
          <a:ln w="12700">
            <a:solidFill>
              <a:srgbClr val="DADDD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284464" y="4517136"/>
            <a:ext cx="121920" cy="121920"/>
          </a:xfrm>
          <a:prstGeom prst="ellipse">
            <a:avLst/>
          </a:prstGeom>
          <a:solidFill>
            <a:srgbClr val="1AA878"/>
          </a:solidFill>
          <a:ln w="12700">
            <a:solidFill>
              <a:srgbClr val="1AA87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67344" y="4486656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66176" y="4852416"/>
            <a:ext cx="332232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A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not have happened without the spend?”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8266176" y="5212080"/>
            <a:ext cx="3322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every channel including TV, OOH and podcast; privacy-durable; captures view-through and halo; separates baseline from incremental.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8266176" y="5852160"/>
            <a:ext cx="3322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and aggregate, 2–4 week latency, wide confidence intervals, cannot optimise creative or audience, and needs real spend variation to identify effects.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11216640" y="6620256"/>
            <a:ext cx="51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68224"/>
            <a:ext cx="10972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·  HOW THE PAID DISPLAY TEAM SHOULD USE THESE APPROACHES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6448"/>
            <a:ext cx="1127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MMM sets the budget, calibrated platform data steers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09472"/>
            <a:ext cx="1127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asking which number is right. Give each system the decision it can actually answer, then convert between them with an explicit, refreshed calibration factor.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608832" cy="1292352"/>
          </a:xfrm>
          <a:prstGeom prst="roundRect">
            <a:avLst>
              <a:gd name="adj" fmla="val 7075"/>
            </a:avLst>
          </a:prstGeom>
          <a:solidFill>
            <a:srgbClr val="F2F3EE"/>
          </a:solidFill>
          <a:ln w="12700">
            <a:solidFill>
              <a:srgbClr val="DADD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9344"/>
            <a:ext cx="316992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MUCH?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92224"/>
            <a:ext cx="3291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33600"/>
            <a:ext cx="32613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display budget envelope and the cross-channel split, and owns the one true CPA target. Refreshed quarterly. Never used for in-flight decisions.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85488" y="1444752"/>
            <a:ext cx="3608832" cy="1292352"/>
          </a:xfrm>
          <a:prstGeom prst="roundRect">
            <a:avLst>
              <a:gd name="adj" fmla="val 7075"/>
            </a:avLst>
          </a:prstGeom>
          <a:solidFill>
            <a:srgbClr val="F2F3EE"/>
          </a:solidFill>
          <a:ln w="12700">
            <a:solidFill>
              <a:srgbClr val="DADD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8368" y="1609344"/>
            <a:ext cx="316992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&amp; WHAT?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468368" y="1792224"/>
            <a:ext cx="3291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vendor UI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68368" y="2133600"/>
            <a:ext cx="32613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optimisation inside a vendor: creative, audience, bidding, pacing. Used at face value only within a vendor — never to compare vendors.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13776" y="1444752"/>
            <a:ext cx="3608832" cy="1292352"/>
          </a:xfrm>
          <a:prstGeom prst="roundRect">
            <a:avLst>
              <a:gd name="adj" fmla="val 7075"/>
            </a:avLst>
          </a:prstGeom>
          <a:solidFill>
            <a:srgbClr val="F2F3EE"/>
          </a:solidFill>
          <a:ln w="12700">
            <a:solidFill>
              <a:srgbClr val="DADD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6656" y="1609344"/>
            <a:ext cx="316992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TRUE?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96656" y="1792224"/>
            <a:ext cx="3291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96656" y="2133600"/>
            <a:ext cx="32613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Geo-holdout or PSA tests per vendor, twice a year. Calibrates MMM, validates the k factors and settles disagreements between the other two.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035808"/>
            <a:ext cx="573024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CALIBRATION MECHANIC  ·  MULTIPLY THE PLATFORM NUMBER BY k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9168"/>
          <a:ext cx="5529072" cy="914400"/>
        </p:xfrm>
        <a:graphic>
          <a:graphicData uri="http://schemas.openxmlformats.org/drawingml/2006/table">
            <a:tbl>
              <a:tblPr/>
              <a:tblGrid>
                <a:gridCol w="1414272"/>
                <a:gridCol w="963168"/>
                <a:gridCol w="963168"/>
                <a:gridCol w="2188464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 Jan–Oct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 Nov–Dec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In-platform CPA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hit an £18 true CPA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UAC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6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£14.09  →  £9.90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Tradedesk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6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£15.39  →  £13.19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4413504"/>
            <a:ext cx="552907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nominal in-platform target buys 25–35% less real value in Q4.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Jan–Oct factor to December would overstate incremental registrations by 27% overall — and by 42% on Google UAC.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949952"/>
            <a:ext cx="487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the two rulers rank the same two vendors in opposite order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5071872"/>
          <a:ext cx="55168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6303264" y="3035808"/>
            <a:ext cx="536448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7A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ENGAGEMENT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303264" y="3285744"/>
            <a:ext cx="231648" cy="231648"/>
          </a:xfrm>
          <a:prstGeom prst="ellipse">
            <a:avLst/>
          </a:prstGeom>
          <a:solidFill>
            <a:srgbClr val="9EDF86"/>
          </a:solidFill>
          <a:ln w="12700">
            <a:solidFill>
              <a:srgbClr val="9EDF8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03264" y="3285744"/>
            <a:ext cx="23164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650736" y="3279648"/>
            <a:ext cx="505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one target, translate it.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0736" y="3584448"/>
            <a:ext cx="5059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affords one true CPA. Convert it into a per-vendor, per-season in-platform target using k. Re-fit k every quarter on the latest 13 weeks.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303264" y="4133088"/>
            <a:ext cx="231648" cy="231648"/>
          </a:xfrm>
          <a:prstGeom prst="ellipse">
            <a:avLst/>
          </a:prstGeom>
          <a:solidFill>
            <a:srgbClr val="9EDF86"/>
          </a:solidFill>
          <a:ln w="12700">
            <a:solidFill>
              <a:srgbClr val="9EDF8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303264" y="4133088"/>
            <a:ext cx="23164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6650736" y="4126992"/>
            <a:ext cx="505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compare vendors on raw platform CPA.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6650736" y="4431792"/>
            <a:ext cx="5059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Q4 Google looks 20% cheaper than Tradedesk (£10.31 vs £12.81) and is actually 7% more expensive (£18.75 vs £17.48).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303264" y="4980432"/>
            <a:ext cx="231648" cy="231648"/>
          </a:xfrm>
          <a:prstGeom prst="ellipse">
            <a:avLst/>
          </a:prstGeom>
          <a:solidFill>
            <a:srgbClr val="9EDF86"/>
          </a:solidFill>
          <a:ln w="12700">
            <a:solidFill>
              <a:srgbClr val="9EDF8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303264" y="4980432"/>
            <a:ext cx="23164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6650736" y="4974336"/>
            <a:ext cx="505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 rule-based to diagnostics.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6650736" y="5279136"/>
            <a:ext cx="5059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as a tag-health monitor, not a budget input. Alert when a vendor’s rule-based/MMM ratio shifts more than 20% week-on-week — that would have caught May’s outage on day one.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303264" y="5827776"/>
            <a:ext cx="231648" cy="231648"/>
          </a:xfrm>
          <a:prstGeom prst="ellipse">
            <a:avLst/>
          </a:prstGeom>
          <a:solidFill>
            <a:srgbClr val="9EDF86"/>
          </a:solidFill>
          <a:ln w="12700">
            <a:solidFill>
              <a:srgbClr val="9EDF8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303264" y="5827776"/>
            <a:ext cx="231648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6650736" y="5821680"/>
            <a:ext cx="505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rulers disagree, test — don’t argue.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6650736" y="6126480"/>
            <a:ext cx="5059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MMM and calibrated UI point in opposite directions for two consecutive weeks, that vendor goes into a geo holdout.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11216640" y="6620256"/>
            <a:ext cx="51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rulers, three answers</dc:title>
  <dc:subject>PptxGenJS Presentation</dc:subject>
  <dc:creator>PptxGenJS</dc:creator>
  <cp:lastModifiedBy>PptxGenJS</cp:lastModifiedBy>
  <cp:revision>1</cp:revision>
  <dcterms:created xsi:type="dcterms:W3CDTF">2026-09-25T08:13:32Z</dcterms:created>
  <dcterms:modified xsi:type="dcterms:W3CDTF">2026-09-25T08:13:32Z</dcterms:modified>
</cp:coreProperties>
</file>