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3 insights. Data cleaned first: 3 exact duplicate rows removed (2022-09-19 and 2022-10-17 Tradedesk, 2022-10-24 Google UAC); 4 May weeks with rule_based=0 treated as a tag outage, not zero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b) Factors explaining the differences plus advantages and limitations of each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c) Decision framework. k = MMM registrations / platform-reported registrations, fitted per vendor per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d) risks and opportunities of the proposed approach; e) additional approaches recommended, in priority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DISPLAY  ·  52 WEEKS  ·  £888K  ·  TRADEDESK + GOOGLE UAC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62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rulers, three answers — and only one should set the budget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42416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systems disagree by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−29% to +30%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same registrations. That gap is structural and stable — and therefore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until Q4, when it breaks.</a:t>
            </a:r>
            <a:endParaRPr lang="en-US" sz="1150" dirty="0"/>
          </a:p>
        </p:txBody>
      </p:sp>
      <p:pic>
        <p:nvPicPr>
          <p:cNvPr id="5" name="Image 0" descr="fig1_di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11277295" cy="34946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974336"/>
            <a:ext cx="3600602" cy="1481328"/>
          </a:xfrm>
          <a:prstGeom prst="roundRect">
            <a:avLst>
              <a:gd name="adj" fmla="val 4938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5129784"/>
            <a:ext cx="274320" cy="2743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9264" y="5102352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stable — so it is a conversion factor, not a crisis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5522976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 months the ratios barely move: Vendor UI runs </a:t>
            </a:r>
            <a:pPr indent="0" marL="0">
              <a:lnSpc>
                <a:spcPts val="1180"/>
              </a:lnSpc>
              <a:buNone/>
            </a:pPr>
            <a:r>
              <a:rPr lang="en-US" sz="930" b="1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above MMM, rule-based </a:t>
            </a:r>
            <a:pPr indent="0" marL="0">
              <a:lnSpc>
                <a:spcPts val="1180"/>
              </a:lnSpc>
              <a:buNone/>
            </a:pPr>
            <a:r>
              <a:rPr lang="en-US" sz="930" b="1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−29%</a:t>
            </a:r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below. Per vendor they are near-constant (UI/MMM: Tradedesk 1.17, Google 1.28). A predictable bias can be calibrated away.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295546" y="4974336"/>
            <a:ext cx="3600602" cy="1481328"/>
          </a:xfrm>
          <a:prstGeom prst="roundRect">
            <a:avLst>
              <a:gd name="adj" fmla="val 4938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60138" y="5129784"/>
            <a:ext cx="274320" cy="27432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60138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07610" y="5102352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structurally breaks programmatic display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60138" y="5522976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First-touch click tracking sees only </a:t>
            </a:r>
            <a:pPr indent="0" marL="0">
              <a:lnSpc>
                <a:spcPts val="1180"/>
              </a:lnSpc>
              <a:buNone/>
            </a:pPr>
            <a:r>
              <a:rPr lang="en-US" sz="930" b="1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Tradedesk’s incremental registrations → reported CPA </a:t>
            </a:r>
            <a:pPr indent="0" marL="0">
              <a:lnSpc>
                <a:spcPts val="1180"/>
              </a:lnSpc>
              <a:buNone/>
            </a:pPr>
            <a:r>
              <a:rPr lang="en-US" sz="930" b="1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£44.31 vs £18.77</a:t>
            </a:r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Governing on it would cut the vendor delivering 57% of incremental growth — and it failed silently for 4 weeks in May.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133893" y="4974336"/>
            <a:ext cx="3600602" cy="1481328"/>
          </a:xfrm>
          <a:prstGeom prst="roundRect">
            <a:avLst>
              <a:gd name="adj" fmla="val 4938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8485" y="5129784"/>
            <a:ext cx="274320" cy="2743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98485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645957" y="5102352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Q4 the signals invert — and the vendor UI points the wrong way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98485" y="5522976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UI CPA </a:t>
            </a:r>
            <a:pPr indent="0" marL="0">
              <a:lnSpc>
                <a:spcPts val="1180"/>
              </a:lnSpc>
              <a:buNone/>
            </a:pPr>
            <a:r>
              <a:rPr lang="en-US" sz="930" b="1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 −13%, Tradedesk −22%) while MMM says Google got </a:t>
            </a:r>
            <a:pPr indent="0" marL="0">
              <a:lnSpc>
                <a:spcPts val="1180"/>
              </a:lnSpc>
              <a:buNone/>
            </a:pPr>
            <a:r>
              <a:rPr lang="en-US" sz="930" b="1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worse</a:t>
            </a:r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 identical spend Q4 costs +20% per incremental registration: seasonality, not saturation.</a:t>
            </a:r>
            <a:endParaRPr lang="en-US" sz="930" dirty="0"/>
          </a:p>
        </p:txBody>
      </p:sp>
      <p:sp>
        <p:nvSpPr>
          <p:cNvPr id="21" name="Text 18"/>
          <p:cNvSpPr txBox="1"/>
          <p:nvPr/>
        </p:nvSpPr>
        <p:spPr>
          <a:xfrm>
            <a:off x="11140135" y="65836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·  WHAT EXPLAINS THE DIFFERENCES, AND WHAT EACH METHOD IS GOOD FOR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62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disagree because they answer three different questions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42416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“the right one”: each has a different counting rule, field of view and definition of a conversion. The error is comparing them like-for-like.</a:t>
            </a:r>
            <a:endParaRPr lang="en-US" sz="1150" dirty="0"/>
          </a:p>
        </p:txBody>
      </p:sp>
      <p:pic>
        <p:nvPicPr>
          <p:cNvPr id="5" name="Image 0" descr="fig2_c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4983480" cy="26367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0" y="1444752"/>
            <a:ext cx="60194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DRIVERS OF THE GAP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0" y="1755648"/>
            <a:ext cx="237744" cy="237744"/>
          </a:xfrm>
          <a:prstGeom prst="ellipse">
            <a:avLst/>
          </a:prstGeom>
          <a:solidFill>
            <a:srgbClr val="1633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755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062472" y="1737360"/>
            <a:ext cx="5672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rules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062472" y="1961388"/>
            <a:ext cx="5672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 marks its own homework: self-attributed view-through and cross-device conversions, different lookback windows, and no de-duplication between vendors. Summing two vendor UIs double-counts people both of them touched.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715000" y="2606040"/>
            <a:ext cx="237744" cy="237744"/>
          </a:xfrm>
          <a:prstGeom prst="ellipse">
            <a:avLst/>
          </a:prstGeom>
          <a:solidFill>
            <a:srgbClr val="1633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15000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62472" y="2587752"/>
            <a:ext cx="5672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062472" y="2811780"/>
            <a:ext cx="5672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tracking only sees clicks it can cookie. That is survivable for in-app UAC (rule-based ≈ 1.06× MMM) and fatal for programmatic display (0.47×). First touch then over-credits whichever tracked channel appeared first.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5715000" y="3456432"/>
            <a:ext cx="237744" cy="237744"/>
          </a:xfrm>
          <a:prstGeom prst="ellipse">
            <a:avLst/>
          </a:prstGeom>
          <a:solidFill>
            <a:srgbClr val="1633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150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062472" y="3438144"/>
            <a:ext cx="5672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Incrementality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062472" y="3662172"/>
            <a:ext cx="56720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is the only one that subtracts baseline demand. Neither tracking system asks “would this have happened anyway?”, so both inflate exactly when organic demand rises — which is what Q4 shows.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457200" y="4297680"/>
            <a:ext cx="3624986" cy="2176272"/>
          </a:xfrm>
          <a:prstGeom prst="roundRect">
            <a:avLst>
              <a:gd name="adj" fmla="val 3361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4521708"/>
            <a:ext cx="118872" cy="118872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4480560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" y="4754880"/>
            <a:ext cx="32958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my platform see a conversion after my ad?”</a:t>
            </a:r>
            <a:endParaRPr lang="en-US" sz="980" dirty="0"/>
          </a:p>
        </p:txBody>
      </p:sp>
      <p:sp>
        <p:nvSpPr>
          <p:cNvPr id="23" name="Text 20"/>
          <p:cNvSpPr txBox="1"/>
          <p:nvPr/>
        </p:nvSpPr>
        <p:spPr>
          <a:xfrm>
            <a:off x="621792" y="5148072"/>
            <a:ext cx="329580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</a:t>
            </a:r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granular (campaign, creative, audience, placement). The only signal the bidding algorithm can actually consume. No lag.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621792" y="5742432"/>
            <a:ext cx="32958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</a:t>
            </a:r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and self-interested; inconsistent windows; no cross-vendor de-duplication; inflates when demand rises — Q4 premium jumped from +22% to +54%.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4283354" y="4297680"/>
            <a:ext cx="3624986" cy="2176272"/>
          </a:xfrm>
          <a:prstGeom prst="roundRect">
            <a:avLst>
              <a:gd name="adj" fmla="val 3361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66234" y="4521708"/>
            <a:ext cx="118872" cy="118872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649114" y="4480560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(1ST TOUCH)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447946" y="4754880"/>
            <a:ext cx="32958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tracked touchpoint came first?”</a:t>
            </a:r>
            <a:endParaRPr lang="en-US" sz="980" dirty="0"/>
          </a:p>
        </p:txBody>
      </p:sp>
      <p:sp>
        <p:nvSpPr>
          <p:cNvPr id="29" name="Text 26"/>
          <p:cNvSpPr txBox="1"/>
          <p:nvPr/>
        </p:nvSpPr>
        <p:spPr>
          <a:xfrm>
            <a:off x="4447946" y="5148072"/>
            <a:ext cx="329580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</a:t>
            </a:r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rule across vendors, de-duplicated, user-level, independent of vendor incentives. Excellent as a tracking-health monitor.</a:t>
            </a:r>
            <a:endParaRPr lang="en-US" sz="920" dirty="0"/>
          </a:p>
        </p:txBody>
      </p:sp>
      <p:sp>
        <p:nvSpPr>
          <p:cNvPr id="30" name="Text 27"/>
          <p:cNvSpPr txBox="1"/>
          <p:nvPr/>
        </p:nvSpPr>
        <p:spPr>
          <a:xfrm>
            <a:off x="4447946" y="5742432"/>
            <a:ext cx="32958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</a:t>
            </a:r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view-through and to consent/ITP-limited paths; first touch over-credits upper funnel; breaks silently when tags break (May: £34.6k of spend read as zero).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8109509" y="4297680"/>
            <a:ext cx="3624986" cy="2176272"/>
          </a:xfrm>
          <a:prstGeom prst="roundRect">
            <a:avLst>
              <a:gd name="adj" fmla="val 3361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92389" y="4521708"/>
            <a:ext cx="118872" cy="11887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475269" y="4480560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74101" y="4754880"/>
            <a:ext cx="32958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i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not have happened without the spend?”</a:t>
            </a:r>
            <a:endParaRPr lang="en-US" sz="980" dirty="0"/>
          </a:p>
        </p:txBody>
      </p:sp>
      <p:sp>
        <p:nvSpPr>
          <p:cNvPr id="35" name="Text 32"/>
          <p:cNvSpPr txBox="1"/>
          <p:nvPr/>
        </p:nvSpPr>
        <p:spPr>
          <a:xfrm>
            <a:off x="8274101" y="5148072"/>
            <a:ext cx="329580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</a:t>
            </a:r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channel including TV, OOH and podcast; privacy-durable; captures view-through and halo; separates baseline from incremental.</a:t>
            </a:r>
            <a:endParaRPr lang="en-US" sz="920" dirty="0"/>
          </a:p>
        </p:txBody>
      </p:sp>
      <p:sp>
        <p:nvSpPr>
          <p:cNvPr id="36" name="Text 33"/>
          <p:cNvSpPr txBox="1"/>
          <p:nvPr/>
        </p:nvSpPr>
        <p:spPr>
          <a:xfrm>
            <a:off x="8274101" y="5742432"/>
            <a:ext cx="32958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</a:t>
            </a:r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and aggregate, 2–4 week latency, wide confidence intervals, cannot optimise creative or audience, and needs real spend variation to identify effects.</a:t>
            </a:r>
            <a:endParaRPr lang="en-US" sz="920" dirty="0"/>
          </a:p>
        </p:txBody>
      </p:sp>
      <p:sp>
        <p:nvSpPr>
          <p:cNvPr id="37" name="Text 34"/>
          <p:cNvSpPr txBox="1"/>
          <p:nvPr/>
        </p:nvSpPr>
        <p:spPr>
          <a:xfrm>
            <a:off x="11140135" y="65836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·  HOW THE PAID DISPLAY TEAM SHOULD USE THESE APPROACHES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62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MMM sets the budget, calibrated platform data steers 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42416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asking which number is right. Give each system the decision it can actually answer, then convert between them with an explicit, refreshed calibration factor.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612794" cy="1298448"/>
          </a:xfrm>
          <a:prstGeom prst="roundRect">
            <a:avLst>
              <a:gd name="adj" fmla="val 5634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91056"/>
            <a:ext cx="32470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MUCH?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247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75688"/>
            <a:ext cx="3247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display budget envelope and the cross-channel split, and owns the one true CPA target. Refreshed quarterly. Never used for in-flight decisions.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89450" y="1444752"/>
            <a:ext cx="3612794" cy="1298448"/>
          </a:xfrm>
          <a:prstGeom prst="roundRect">
            <a:avLst>
              <a:gd name="adj" fmla="val 5634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72330" y="1591056"/>
            <a:ext cx="32470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&amp; WHAT?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472330" y="1783080"/>
            <a:ext cx="3247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vendor UI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72330" y="2075688"/>
            <a:ext cx="3247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optimisation inside a vendor: creative, audience, bidding, pacing. Used at face value only within a vendor — never to compare vendors.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121701" y="1444752"/>
            <a:ext cx="3612794" cy="1298448"/>
          </a:xfrm>
          <a:prstGeom prst="roundRect">
            <a:avLst>
              <a:gd name="adj" fmla="val 5634"/>
            </a:avLst>
          </a:prstGeom>
          <a:solidFill>
            <a:srgbClr val="F3F6EE"/>
          </a:solidFill>
          <a:ln w="9525">
            <a:solidFill>
              <a:srgbClr val="DCE2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4581" y="1591056"/>
            <a:ext cx="32470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TRUE?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304581" y="1783080"/>
            <a:ext cx="3247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04581" y="2075688"/>
            <a:ext cx="32470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Geo-holdout or PSA tests per vendor, twice a year. Calibrates MMM, validates the k factors and settles disagreements between the other two.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99923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CALIBRATION MECHANIC  ·  MULTIPLY THE PLATFORM NUMBER BY k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55264"/>
          <a:ext cx="55321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960120"/>
                <a:gridCol w="2194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 Jan–Oct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 Nov–Dec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In-platform CPA target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hit an £18 true CPA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UAC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£14.09  →  £9.90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Tradedesk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62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£15.39  →  £13.19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35254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nominal in-platform target buys 25–35% less real value in Q4. </a:t>
            </a:r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Jan–Oct factor to December would overstate incremental registrations by 27% overall — and by 42% on Google UAC.</a:t>
            </a:r>
            <a:endParaRPr lang="en-US" sz="930" dirty="0"/>
          </a:p>
        </p:txBody>
      </p:sp>
      <p:pic>
        <p:nvPicPr>
          <p:cNvPr id="20" name="Image 0" descr="fig3_rever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82896"/>
            <a:ext cx="5532120" cy="1615689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309360" y="2999232"/>
            <a:ext cx="5425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ENGAGEMENT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309360" y="3282696"/>
            <a:ext cx="237744" cy="23774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309360" y="3282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3255264"/>
            <a:ext cx="50776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one target, translate it.</a:t>
            </a:r>
            <a:endParaRPr lang="en-US" sz="1030" dirty="0"/>
          </a:p>
        </p:txBody>
      </p:sp>
      <p:sp>
        <p:nvSpPr>
          <p:cNvPr id="25" name="Text 21"/>
          <p:cNvSpPr txBox="1"/>
          <p:nvPr/>
        </p:nvSpPr>
        <p:spPr>
          <a:xfrm>
            <a:off x="6656832" y="3465576"/>
            <a:ext cx="50776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affords one true CPA. Convert it into a per-vendor, per-season in-platform target using k. Re-fit k every quarter on the latest 13 weeks.</a:t>
            </a:r>
            <a:endParaRPr lang="en-US" sz="930" dirty="0"/>
          </a:p>
        </p:txBody>
      </p:sp>
      <p:sp>
        <p:nvSpPr>
          <p:cNvPr id="26" name="Shape 22"/>
          <p:cNvSpPr/>
          <p:nvPr/>
        </p:nvSpPr>
        <p:spPr>
          <a:xfrm>
            <a:off x="6309360" y="4133088"/>
            <a:ext cx="237744" cy="23774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309360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656832" y="4105656"/>
            <a:ext cx="50776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compare vendors on raw platform CPA.</a:t>
            </a:r>
            <a:endParaRPr lang="en-US" sz="1030" dirty="0"/>
          </a:p>
        </p:txBody>
      </p:sp>
      <p:sp>
        <p:nvSpPr>
          <p:cNvPr id="29" name="Text 25"/>
          <p:cNvSpPr txBox="1"/>
          <p:nvPr/>
        </p:nvSpPr>
        <p:spPr>
          <a:xfrm>
            <a:off x="6656832" y="4315968"/>
            <a:ext cx="50776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Q4 Google looks 20% cheaper than Tradedesk (£10.31 vs £12.81) and is actually 7% more expensive (£18.75 vs £17.48).</a:t>
            </a:r>
            <a:endParaRPr lang="en-US" sz="930" dirty="0"/>
          </a:p>
        </p:txBody>
      </p:sp>
      <p:sp>
        <p:nvSpPr>
          <p:cNvPr id="30" name="Shape 26"/>
          <p:cNvSpPr/>
          <p:nvPr/>
        </p:nvSpPr>
        <p:spPr>
          <a:xfrm>
            <a:off x="6309360" y="4983480"/>
            <a:ext cx="237744" cy="23774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309360" y="4983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656832" y="4956048"/>
            <a:ext cx="50776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 rule-based to diagnostics.</a:t>
            </a:r>
            <a:endParaRPr lang="en-US" sz="1030" dirty="0"/>
          </a:p>
        </p:txBody>
      </p:sp>
      <p:sp>
        <p:nvSpPr>
          <p:cNvPr id="33" name="Text 29"/>
          <p:cNvSpPr txBox="1"/>
          <p:nvPr/>
        </p:nvSpPr>
        <p:spPr>
          <a:xfrm>
            <a:off x="6656832" y="5166360"/>
            <a:ext cx="50776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as a tag-health monitor, not a budget input. Alert when a vendor’s rule-based/MMM ratio shifts more than 20% week-on-week — that would have caught May’s outage on day one.</a:t>
            </a:r>
            <a:endParaRPr lang="en-US" sz="930" dirty="0"/>
          </a:p>
        </p:txBody>
      </p:sp>
      <p:sp>
        <p:nvSpPr>
          <p:cNvPr id="34" name="Shape 30"/>
          <p:cNvSpPr/>
          <p:nvPr/>
        </p:nvSpPr>
        <p:spPr>
          <a:xfrm>
            <a:off x="6309360" y="5833872"/>
            <a:ext cx="237744" cy="237744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309360" y="5833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656832" y="5806440"/>
            <a:ext cx="50776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2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rulers disagree, test — don’t argue.</a:t>
            </a:r>
            <a:endParaRPr lang="en-US" sz="1030" dirty="0"/>
          </a:p>
        </p:txBody>
      </p:sp>
      <p:sp>
        <p:nvSpPr>
          <p:cNvPr id="37" name="Text 33"/>
          <p:cNvSpPr txBox="1"/>
          <p:nvPr/>
        </p:nvSpPr>
        <p:spPr>
          <a:xfrm>
            <a:off x="6656832" y="6016752"/>
            <a:ext cx="50776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80"/>
              </a:lnSpc>
              <a:buNone/>
            </a:pPr>
            <a:r>
              <a:rPr lang="en-US" sz="930" dirty="0">
                <a:solidFill>
                  <a:srgbClr val="47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MMM and calibrated UI point in opposite directions for two consecutive weeks, that vendor goes into a geo holdout.</a:t>
            </a:r>
            <a:endParaRPr lang="en-US" sz="930" dirty="0"/>
          </a:p>
        </p:txBody>
      </p:sp>
      <p:sp>
        <p:nvSpPr>
          <p:cNvPr id="38" name="Text 34"/>
          <p:cNvSpPr txBox="1"/>
          <p:nvPr/>
        </p:nvSpPr>
        <p:spPr>
          <a:xfrm>
            <a:off x="11140135" y="65836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BB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+ E  ·  RISKS, OPPORTUNITIES AND WHAT I WOULD BUILD NEXT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is only as good as the calibration behind 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42416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risks are specific to this dataset and would bite within a quarter; the biggest opportunity is that display shows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saturation yet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612794" cy="4892040"/>
          </a:xfrm>
          <a:prstGeom prst="roundRect">
            <a:avLst>
              <a:gd name="adj" fmla="val 2025"/>
            </a:avLst>
          </a:prstGeom>
          <a:solidFill>
            <a:srgbClr val="234A0D"/>
          </a:solidFill>
          <a:ln w="9525">
            <a:solidFill>
              <a:srgbClr val="2E5C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64208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11680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decay</a:t>
            </a:r>
            <a:endParaRPr lang="en-US" sz="104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21992"/>
            <a:ext cx="32104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proved k is not constant. Using the Jan–Oct factor in December overstates incremental output by 27%. Mitigation: re-fit quarterly, hold out the last 8 weeks, alert on drift.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08376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as a single point of failure</a:t>
            </a:r>
            <a:endParaRPr lang="en-US" sz="104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218688"/>
            <a:ext cx="32104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confidence intervals, 2–4 week latency, blind to creative. Mitigation: never let it drive in-flight decisions, and always publish the interval next to the point estimate.</a:t>
            </a:r>
            <a:endParaRPr lang="en-US" sz="92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005072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Co-movement mistaken for causation</a:t>
            </a:r>
            <a:endParaRPr lang="en-US" sz="104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215384"/>
            <a:ext cx="32104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MMM registrations track each other almost perfectly here (elasticity ≈ 1.0, R² &gt; 0.99). That is a shared trend, not proof. Only experiments can validate the level.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00176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data failures</a:t>
            </a:r>
            <a:endParaRPr lang="en-US" sz="104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5212080"/>
            <a:ext cx="32104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duplicate rows and 4 zero-rows in a 107-row file. At scale this is invisible. Mitigation: a data contract with automated duplicate, null and ratio-drift checks.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289450" y="1481328"/>
            <a:ext cx="3612794" cy="4892040"/>
          </a:xfrm>
          <a:prstGeom prst="roundRect">
            <a:avLst>
              <a:gd name="adj" fmla="val 2025"/>
            </a:avLst>
          </a:prstGeom>
          <a:solidFill>
            <a:srgbClr val="234A0D"/>
          </a:solidFill>
          <a:ln w="9525">
            <a:solidFill>
              <a:srgbClr val="2E5C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0618" y="1664208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9FE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90618" y="2011680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to scale</a:t>
            </a:r>
            <a:endParaRPr lang="en-US" sz="1040" dirty="0"/>
          </a:p>
        </p:txBody>
      </p:sp>
      <p:sp>
        <p:nvSpPr>
          <p:cNvPr id="18" name="Text 16"/>
          <p:cNvSpPr txBox="1"/>
          <p:nvPr/>
        </p:nvSpPr>
        <p:spPr>
          <a:xfrm>
            <a:off x="4490618" y="2221992"/>
            <a:ext cx="32104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tripled (£35k → £122k per month) at elasticity 0.96–0.99 with flat MMM CPA. No saturation is visible yet — test where the ceiling is rather than assume one.</a:t>
            </a:r>
            <a:endParaRPr lang="en-US" sz="920" dirty="0"/>
          </a:p>
        </p:txBody>
      </p:sp>
      <p:sp>
        <p:nvSpPr>
          <p:cNvPr id="19" name="Text 17"/>
          <p:cNvSpPr txBox="1"/>
          <p:nvPr/>
        </p:nvSpPr>
        <p:spPr>
          <a:xfrm>
            <a:off x="4490618" y="3008376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currency for every channel</a:t>
            </a:r>
            <a:endParaRPr lang="en-US" sz="1040" dirty="0"/>
          </a:p>
        </p:txBody>
      </p:sp>
      <p:sp>
        <p:nvSpPr>
          <p:cNvPr id="20" name="Text 18"/>
          <p:cNvSpPr txBox="1"/>
          <p:nvPr/>
        </p:nvSpPr>
        <p:spPr>
          <a:xfrm>
            <a:off x="4490618" y="3218688"/>
            <a:ext cx="32104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incremental registration lets display compete like-for-like with TV, podcast and OOH — channels that today are argued about rather than measured.</a:t>
            </a:r>
            <a:endParaRPr lang="en-US" sz="920" dirty="0"/>
          </a:p>
        </p:txBody>
      </p:sp>
      <p:sp>
        <p:nvSpPr>
          <p:cNvPr id="21" name="Text 19"/>
          <p:cNvSpPr txBox="1"/>
          <p:nvPr/>
        </p:nvSpPr>
        <p:spPr>
          <a:xfrm>
            <a:off x="4490618" y="4005072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bidding, not just better reporting</a:t>
            </a:r>
            <a:endParaRPr lang="en-US" sz="1040" dirty="0"/>
          </a:p>
        </p:txBody>
      </p:sp>
      <p:sp>
        <p:nvSpPr>
          <p:cNvPr id="22" name="Text 20"/>
          <p:cNvSpPr txBox="1"/>
          <p:nvPr/>
        </p:nvSpPr>
        <p:spPr>
          <a:xfrm>
            <a:off x="4490618" y="4215384"/>
            <a:ext cx="32104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targets fed back to the platforms change what the algorithms optimise towards, not just what the team reports.</a:t>
            </a:r>
            <a:endParaRPr lang="en-US" sz="920" dirty="0"/>
          </a:p>
        </p:txBody>
      </p:sp>
      <p:sp>
        <p:nvSpPr>
          <p:cNvPr id="23" name="Text 21"/>
          <p:cNvSpPr txBox="1"/>
          <p:nvPr/>
        </p:nvSpPr>
        <p:spPr>
          <a:xfrm>
            <a:off x="4490618" y="4846320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learning over time</a:t>
            </a:r>
            <a:endParaRPr lang="en-US" sz="1040" dirty="0"/>
          </a:p>
        </p:txBody>
      </p:sp>
      <p:sp>
        <p:nvSpPr>
          <p:cNvPr id="24" name="Text 22"/>
          <p:cNvSpPr txBox="1"/>
          <p:nvPr/>
        </p:nvSpPr>
        <p:spPr>
          <a:xfrm>
            <a:off x="4490618" y="5056632"/>
            <a:ext cx="32104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vendors with a stable k make future geo tests shorter and smaller — measurement gets cheaper as the framework matures.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121701" y="1481328"/>
            <a:ext cx="3612794" cy="4892040"/>
          </a:xfrm>
          <a:prstGeom prst="roundRect">
            <a:avLst>
              <a:gd name="adj" fmla="val 2025"/>
            </a:avLst>
          </a:prstGeom>
          <a:solidFill>
            <a:srgbClr val="234A0D"/>
          </a:solidFill>
          <a:ln w="9525">
            <a:solidFill>
              <a:srgbClr val="2E5C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2869" y="1664208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BUILD NEXT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22869" y="2011680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Geo-holdout experiments</a:t>
            </a:r>
            <a:endParaRPr lang="en-US" sz="1040" dirty="0"/>
          </a:p>
        </p:txBody>
      </p:sp>
      <p:sp>
        <p:nvSpPr>
          <p:cNvPr id="28" name="Text 26"/>
          <p:cNvSpPr txBox="1"/>
          <p:nvPr/>
        </p:nvSpPr>
        <p:spPr>
          <a:xfrm>
            <a:off x="8322869" y="2221992"/>
            <a:ext cx="32104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vendor, 4–6 weeks. The only unbiased read, and the anchor that calibrates everything else. Start now.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8322869" y="285292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 single calibrated KPI</a:t>
            </a:r>
            <a:endParaRPr lang="en-US" sz="1040" dirty="0"/>
          </a:p>
        </p:txBody>
      </p:sp>
      <p:sp>
        <p:nvSpPr>
          <p:cNvPr id="30" name="Text 28"/>
          <p:cNvSpPr txBox="1"/>
          <p:nvPr/>
        </p:nvSpPr>
        <p:spPr>
          <a:xfrm>
            <a:off x="8322869" y="3063240"/>
            <a:ext cx="32104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three competing numbers with one incremental registration figure, raw inputs visible underneath.</a:t>
            </a:r>
            <a:endParaRPr lang="en-US" sz="920" dirty="0"/>
          </a:p>
        </p:txBody>
      </p:sp>
      <p:sp>
        <p:nvSpPr>
          <p:cNvPr id="31" name="Text 29"/>
          <p:cNvSpPr txBox="1"/>
          <p:nvPr/>
        </p:nvSpPr>
        <p:spPr>
          <a:xfrm>
            <a:off x="8322869" y="3694176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Server-side conversion feed</a:t>
            </a:r>
            <a:endParaRPr lang="en-US" sz="1040" dirty="0"/>
          </a:p>
        </p:txBody>
      </p:sp>
      <p:sp>
        <p:nvSpPr>
          <p:cNvPr id="32" name="Text 30"/>
          <p:cNvSpPr txBox="1"/>
          <p:nvPr/>
        </p:nvSpPr>
        <p:spPr>
          <a:xfrm>
            <a:off x="8322869" y="3904488"/>
            <a:ext cx="32104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signal at source (Conversions API, SKAN-resilient tracking) so the gap narrows instead of being corrected afterwards.</a:t>
            </a:r>
            <a:endParaRPr lang="en-US" sz="920" dirty="0"/>
          </a:p>
        </p:txBody>
      </p:sp>
      <p:sp>
        <p:nvSpPr>
          <p:cNvPr id="33" name="Text 31"/>
          <p:cNvSpPr txBox="1"/>
          <p:nvPr/>
        </p:nvSpPr>
        <p:spPr>
          <a:xfrm>
            <a:off x="8322869" y="4535424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MMM at vendor level, with curves</a:t>
            </a:r>
            <a:endParaRPr lang="en-US" sz="1040" dirty="0"/>
          </a:p>
        </p:txBody>
      </p:sp>
      <p:sp>
        <p:nvSpPr>
          <p:cNvPr id="34" name="Text 32"/>
          <p:cNvSpPr txBox="1"/>
          <p:nvPr/>
        </p:nvSpPr>
        <p:spPr>
          <a:xfrm>
            <a:off x="8322869" y="4745736"/>
            <a:ext cx="3210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and saturation curves per vendor so budgets are set on marginal, not average, CPA.</a:t>
            </a:r>
            <a:endParaRPr lang="en-US" sz="920" dirty="0"/>
          </a:p>
        </p:txBody>
      </p:sp>
      <p:sp>
        <p:nvSpPr>
          <p:cNvPr id="35" name="Text 33"/>
          <p:cNvSpPr txBox="1"/>
          <p:nvPr/>
        </p:nvSpPr>
        <p:spPr>
          <a:xfrm>
            <a:off x="8322869" y="5312664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Automated measurement health</a:t>
            </a:r>
            <a:endParaRPr lang="en-US" sz="1040" dirty="0"/>
          </a:p>
        </p:txBody>
      </p:sp>
      <p:sp>
        <p:nvSpPr>
          <p:cNvPr id="36" name="Text 34"/>
          <p:cNvSpPr txBox="1"/>
          <p:nvPr/>
        </p:nvSpPr>
        <p:spPr>
          <a:xfrm>
            <a:off x="8322869" y="5522976"/>
            <a:ext cx="3210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60"/>
              </a:lnSpc>
              <a:buNone/>
            </a:pPr>
            <a:r>
              <a:rPr lang="en-US" sz="920" dirty="0">
                <a:solidFill>
                  <a:srgbClr val="C6D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Duplicate, zero-row and ratio-drift monitoring as part of the pipeline SLA.</a:t>
            </a:r>
            <a:endParaRPr lang="en-US" sz="920" dirty="0"/>
          </a:p>
        </p:txBody>
      </p:sp>
      <p:sp>
        <p:nvSpPr>
          <p:cNvPr id="37" name="Text 35"/>
          <p:cNvSpPr txBox="1"/>
          <p:nvPr/>
        </p:nvSpPr>
        <p:spPr>
          <a:xfrm>
            <a:off x="11140135" y="65836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Paid display measurement framework</dc:title>
  <dc:subject>PptxGenJS Presentation</dc:subject>
  <dc:creator>Marketing Science Manager - Case Study</dc:creator>
  <cp:lastModifiedBy>Marketing Science Manager - Case Study</cp:lastModifiedBy>
  <cp:revision>1</cp:revision>
  <dcterms:created xsi:type="dcterms:W3CDTF">2026-09-17T16:19:21Z</dcterms:created>
  <dcterms:modified xsi:type="dcterms:W3CDTF">2026-09-17T16:19:21Z</dcterms:modified>
</cp:coreProperties>
</file>